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31dc1832c04c5f" /><Relationship Type="http://schemas.openxmlformats.org/officeDocument/2006/relationships/extended-properties" Target="/docProps/app.xml" Id="Rcd734a10780a4b03" /><Relationship Type="http://schemas.openxmlformats.org/officeDocument/2006/relationships/officeDocument" Target="/ppt/presentation.xml" Id="R8c73a429d1134c42" /></Relationships>
</file>

<file path=ppt/presentation.xml><?xml version="1.0" encoding="utf-8"?>
<p:presentation xmlns:p="http://schemas.openxmlformats.org/presentationml/2006/main">
  <p:sldMasterIdLst>
    <p:sldMasterId xmlns:r="http://schemas.openxmlformats.org/officeDocument/2006/relationships" id="2147483648" r:id="R565f747a8f1d450d"/>
  </p:sldMasterIdLst>
  <p:notesMasterIdLst>
    <p:notesMasterId xmlns:r="http://schemas.openxmlformats.org/officeDocument/2006/relationships" r:id="Ra0c0daf46c0948cc"/>
  </p:notesMasterIdLst>
  <p:sldIdLst>
    <p:sldId xmlns:r="http://schemas.openxmlformats.org/officeDocument/2006/relationships" id="256" r:id="R42dcc5eb886441d8"/>
    <p:sldId xmlns:r="http://schemas.openxmlformats.org/officeDocument/2006/relationships" id="257" r:id="Rc3e1dc8e04fe454a"/>
    <p:sldId xmlns:r="http://schemas.openxmlformats.org/officeDocument/2006/relationships" id="258" r:id="Rcaefe91691284e77"/>
    <p:sldId xmlns:r="http://schemas.openxmlformats.org/officeDocument/2006/relationships" id="259" r:id="R20b3eb5704b5460b"/>
    <p:sldId xmlns:r="http://schemas.openxmlformats.org/officeDocument/2006/relationships" id="260" r:id="R55891ff257dc48c4"/>
    <p:sldId xmlns:r="http://schemas.openxmlformats.org/officeDocument/2006/relationships" id="261" r:id="R34becc6a7b2f46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96ee9b04e94f4b" /><Relationship Type="http://schemas.openxmlformats.org/officeDocument/2006/relationships/slideMaster" Target="/ppt/slideMasters/slideMaster1.xml" Id="R565f747a8f1d450d" /><Relationship Type="http://schemas.openxmlformats.org/officeDocument/2006/relationships/notesMaster" Target="/ppt/notesMasters/notesMaster1.xml" Id="Ra0c0daf46c0948cc" /><Relationship Type="http://schemas.openxmlformats.org/officeDocument/2006/relationships/presProps" Target="/ppt/presProps.xml" Id="R60ea3a2de6c04cf2" /><Relationship Type="http://schemas.openxmlformats.org/officeDocument/2006/relationships/tableStyles" Target="/ppt/tableStyles.xml" Id="R0803080d40ee48c4" /><Relationship Type="http://schemas.openxmlformats.org/officeDocument/2006/relationships/slide" Target="/ppt/slides/slide1.xml" Id="R42dcc5eb886441d8" /><Relationship Type="http://schemas.openxmlformats.org/officeDocument/2006/relationships/slide" Target="/ppt/slides/slide2.xml" Id="Rc3e1dc8e04fe454a" /><Relationship Type="http://schemas.openxmlformats.org/officeDocument/2006/relationships/slide" Target="/ppt/slides/slide3.xml" Id="Rcaefe91691284e77" /><Relationship Type="http://schemas.openxmlformats.org/officeDocument/2006/relationships/slide" Target="/ppt/slides/slide4.xml" Id="R20b3eb5704b5460b" /><Relationship Type="http://schemas.openxmlformats.org/officeDocument/2006/relationships/slide" Target="/ppt/slides/slide5.xml" Id="R55891ff257dc48c4" /><Relationship Type="http://schemas.openxmlformats.org/officeDocument/2006/relationships/slide" Target="/ppt/slides/slide6.xml" Id="R34becc6a7b2f46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abab97749e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1a85d56166448a" /><Relationship Type="http://schemas.openxmlformats.org/officeDocument/2006/relationships/notesMaster" Target="/ppt/notesMasters/notesMaster1.xml" Id="Rc3f8f7e4406a4d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181ccd3a244eba" /><Relationship Type="http://schemas.openxmlformats.org/officeDocument/2006/relationships/notesMaster" Target="/ppt/notesMasters/notesMaster1.xml" Id="Rcf3fac99df234f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7349693e1d4f30" /><Relationship Type="http://schemas.openxmlformats.org/officeDocument/2006/relationships/notesMaster" Target="/ppt/notesMasters/notesMaster1.xml" Id="R715034cb27ff41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7f4d8d8ee348a4" /><Relationship Type="http://schemas.openxmlformats.org/officeDocument/2006/relationships/notesMaster" Target="/ppt/notesMasters/notesMaster1.xml" Id="R91519b3c74f941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adcd136f584c6b" /><Relationship Type="http://schemas.openxmlformats.org/officeDocument/2006/relationships/notesMaster" Target="/ppt/notesMasters/notesMaster1.xml" Id="Rc4248658800747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bc3a1021634128" /><Relationship Type="http://schemas.openxmlformats.org/officeDocument/2006/relationships/notesMaster" Target="/ppt/notesMasters/notesMaster1.xml" Id="Raed79329051f4d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people who want to eat healthier have to choose meals, shop for ingredients, measure portions, and figure out how to cook them. For beginners, cooking can feel intimidating. Athletes need clearer information about protein and portions. Homemakers and busy families face the daily task of deciding what to prepare. These difficulties can lead to frequent takeaway orders, unused ingredients, and inconsistent eating habits. Finding a recipe only solves part of the problem. People also need the right ingredients, equipment, and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Sufra, customers choose a meal and receive a box of measured ingredients with clear cooking instructions. A starter kit includes measuring spoons, a scoop, a food thermometer, and a food scale. The app guides customers through preparation step by step and displays estimated calories and nutrients per serving. Customers can purchase one meal, a full day of meals, or a weekly or monthly subscription. Our goal is to help people prepare familiar meals with greater confidence while reducing the effort of planning and shopping.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NutriVision aims to serve customers across Bahrain. The initial target customers are young adults, couples, beginners and busy people who want to cook at home but need an easier process. We propose starting with a pilot of 30 customers, then expanding based on repeat purchases and delivery capacity. The number of eligible households still needs to be verified before making a market-size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built a Flutter prototype with an Arabic storefront, recipe browsing, audience filters, favourites, and a basket. Customers can configure four purchase options: one meal box; a full day containing breakfast, lunch, and dinner; a weekly package containing five meal boxes; or a monthly package containing twenty meal boxes across four weeks. Each box currently serves two people. Weekly and monthly packages cover one meal per day, five days per week. The prototype includes pricing calculations, starter-kit selection, ingredient checklists, guided cooking, and local demo orders. Full application testing remains outstanding. Payments and live fulfillment are not connected. Supplier coordination, packing, and delivery would require manual handling during an initial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interviewed more than 20 people about their cooking habits. Their main difficulties were buying all the required ingredients and finding suitable recipes. More than 10 people said they would try NutriVision if one box costs less than BHD 5. Most preferred trying one box or a daily package first. Only one person showed interest in ordering monthly. These responses show early interest, but no paid preorders have been collected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created NutriVision to reduce the time and effort involved in preparing meals. People sometimes forget an ingredient while shopping or buy more than they need. NutriVision provides the correct ingredients in measured quantities, making cooking easier and reducing waste. My main strength is application development, which I used to build the prototype. Supplier, nutrition and delivery partnerships still need to be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576e2c1e4743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166efbf89d4b2e" /><Relationship Type="http://schemas.openxmlformats.org/officeDocument/2006/relationships/slideLayout" Target="/ppt/slideLayouts/slideLayout1.xml" Id="R07e15eab942247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e15eab942247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5498f5aa704e7f" /><Relationship Type="http://schemas.openxmlformats.org/officeDocument/2006/relationships/notesSlide" Target="/ppt/notesSlides/notesSlide1.xml" Id="R54ec67ab66524d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8dfd83ccd94ced" /><Relationship Type="http://schemas.openxmlformats.org/officeDocument/2006/relationships/notesSlide" Target="/ppt/notesSlides/notesSlide2.xml" Id="Rff9aeae74e1347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57327eb2884195" /><Relationship Type="http://schemas.openxmlformats.org/officeDocument/2006/relationships/notesSlide" Target="/ppt/notesSlides/notesSlide3.xml" Id="R7ac95ed2f57d4c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5bd624d00c40a7" /><Relationship Type="http://schemas.openxmlformats.org/officeDocument/2006/relationships/notesSlide" Target="/ppt/notesSlides/notesSlide4.xml" Id="Ra53ab86c01f049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6476abaf974e50" /><Relationship Type="http://schemas.openxmlformats.org/officeDocument/2006/relationships/notesSlide" Target="/ppt/notesSlides/notesSlide5.xml" Id="R6f37c394d85248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9b9fa23ec24bf9" /><Relationship Type="http://schemas.openxmlformats.org/officeDocument/2006/relationships/notesSlide" Target="/ppt/notesSlides/notesSlide6.xml" Id="R7f1ea29ee3a1482e" /></Relationships>
</file>

<file path=ppt/slides/slide1.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CD6DF2-07EE-41ED-B291-302B7CF4E36F}"/>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D334C20A-556D-4BFB-8BBE-63474EA54BF5}"/>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PROBLEM</a:t>
            </a:r>
          </a:p>
        </p:txBody>
      </p:sp>
      <p:sp>
        <p:nvSpPr>
          <p:cNvPr id="3" name="">
            <a:extLst xmlns:a="http://schemas.openxmlformats.org/drawingml/2006/main">
              <a:ext uri="{FF2B5EF4-FFF2-40B4-BE49-F238E27FC236}">
                <a16:creationId xmlns:a16="http://schemas.microsoft.com/office/drawing/2014/main" id="{7464B789-4790-4EC4-81D6-A68ECF471113}"/>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Healthy cooking takes</a:t>
            </a:r>
          </a:p>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more than a recipe</a:t>
            </a:r>
          </a:p>
        </p:txBody>
      </p:sp>
      <p:sp>
        <p:nvSpPr>
          <p:cNvPr id="4" name="">
            <a:extLst xmlns:a="http://schemas.openxmlformats.org/drawingml/2006/main">
              <a:ext uri="{FF2B5EF4-FFF2-40B4-BE49-F238E27FC236}">
                <a16:creationId xmlns:a16="http://schemas.microsoft.com/office/drawing/2014/main" id="{8C263E0E-B3EE-495A-9A78-2CC699A46B7A}"/>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01</a:t>
            </a:r>
          </a:p>
        </p:txBody>
      </p:sp>
      <p:sp>
        <p:nvSpPr>
          <p:cNvPr id="5" name="">
            <a:extLst xmlns:a="http://schemas.openxmlformats.org/drawingml/2006/main">
              <a:ext uri="{FF2B5EF4-FFF2-40B4-BE49-F238E27FC236}">
                <a16:creationId xmlns:a16="http://schemas.microsoft.com/office/drawing/2014/main" id="{B29E05B5-2570-4E2F-A300-B393C9B626F1}"/>
              </a:ext>
            </a:extLst>
          </p:cNvPr>
          <p:cNvSpPr>
            <a:spLocks xmlns:a="http://schemas.openxmlformats.org/drawingml/2006/main" noGrp="1"/>
          </p:cNvSpPr>
          <p:nvPr/>
        </p:nvSpPr>
        <p:spPr>
          <a:xfrm xmlns:a="http://schemas.openxmlformats.org/drawingml/2006/main">
            <a:off x="609600" y="2819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F35"/>
                </a:solidFill>
                <a:latin typeface="Bitstream Charter"/>
                <a:ea typeface="Bitstream Charter"/>
                <a:cs typeface="Bitstream Charter"/>
              </a:defRPr>
            </a:pPr>
            <a:r>
              <a:rPr sz="2400" b="1">
                <a:solidFill>
                  <a:srgbClr val="173F35"/>
                </a:solidFill>
                <a:latin typeface="Bitstream Charter"/>
                <a:ea typeface="Bitstream Charter"/>
                <a:cs typeface="Bitstream Charter"/>
              </a:rPr>
              <a:t>Choose meals. Shop. Measure. Cook.</a:t>
            </a:r>
          </a:p>
        </p:txBody>
      </p:sp>
      <p:sp>
        <p:nvSpPr>
          <p:cNvPr id="6" name="">
            <a:extLst xmlns:a="http://schemas.openxmlformats.org/drawingml/2006/main">
              <a:ext uri="{FF2B5EF4-FFF2-40B4-BE49-F238E27FC236}">
                <a16:creationId xmlns:a16="http://schemas.microsoft.com/office/drawing/2014/main" id="{B622E6F3-AAAD-414B-8DA5-94D68ED24D22}"/>
              </a:ext>
            </a:extLst>
          </p:cNvPr>
          <p:cNvSpPr>
            <a:spLocks xmlns:a="http://schemas.openxmlformats.org/drawingml/2006/main" noGrp="1"/>
          </p:cNvSpPr>
          <p:nvPr/>
        </p:nvSpPr>
        <p:spPr>
          <a:xfrm xmlns:a="http://schemas.openxmlformats.org/drawingml/2006/main">
            <a:off x="609600" y="3752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Beginners</a:t>
            </a:r>
          </a:p>
        </p:txBody>
      </p:sp>
      <p:sp>
        <p:nvSpPr>
          <p:cNvPr id="7" name="">
            <a:extLst xmlns:a="http://schemas.openxmlformats.org/drawingml/2006/main">
              <a:ext uri="{FF2B5EF4-FFF2-40B4-BE49-F238E27FC236}">
                <a16:creationId xmlns:a16="http://schemas.microsoft.com/office/drawing/2014/main" id="{A642CCCF-07AC-48DA-87CA-14656802F5F4}"/>
              </a:ext>
            </a:extLst>
          </p:cNvPr>
          <p:cNvSpPr>
            <a:spLocks xmlns:a="http://schemas.openxmlformats.org/drawingml/2006/main" noGrp="1"/>
          </p:cNvSpPr>
          <p:nvPr/>
        </p:nvSpPr>
        <p:spPr>
          <a:xfrm xmlns:a="http://schemas.openxmlformats.org/drawingml/2006/main">
            <a:off x="609600" y="4219575"/>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Cooking can feel intimidating</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without practical guidance.</a:t>
            </a:r>
          </a:p>
        </p:txBody>
      </p:sp>
      <p:sp>
        <p:nvSpPr>
          <p:cNvPr id="8" name="">
            <a:extLst xmlns:a="http://schemas.openxmlformats.org/drawingml/2006/main">
              <a:ext uri="{FF2B5EF4-FFF2-40B4-BE49-F238E27FC236}">
                <a16:creationId xmlns:a16="http://schemas.microsoft.com/office/drawing/2014/main" id="{23309301-8878-485D-809B-4C595680BF6A}"/>
              </a:ext>
            </a:extLst>
          </p:cNvPr>
          <p:cNvSpPr>
            <a:spLocks xmlns:a="http://schemas.openxmlformats.org/drawingml/2006/main" noGrp="1"/>
          </p:cNvSpPr>
          <p:nvPr/>
        </p:nvSpPr>
        <p:spPr>
          <a:xfrm xmlns:a="http://schemas.openxmlformats.org/drawingml/2006/main">
            <a:off x="4343400" y="3752850"/>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Athletes</a:t>
            </a:r>
          </a:p>
        </p:txBody>
      </p:sp>
      <p:sp>
        <p:nvSpPr>
          <p:cNvPr id="9" name="">
            <a:extLst xmlns:a="http://schemas.openxmlformats.org/drawingml/2006/main">
              <a:ext uri="{FF2B5EF4-FFF2-40B4-BE49-F238E27FC236}">
                <a16:creationId xmlns:a16="http://schemas.microsoft.com/office/drawing/2014/main" id="{A6A13379-9D29-4B10-A762-84570CC65FBC}"/>
              </a:ext>
            </a:extLst>
          </p:cNvPr>
          <p:cNvSpPr>
            <a:spLocks xmlns:a="http://schemas.openxmlformats.org/drawingml/2006/main" noGrp="1"/>
          </p:cNvSpPr>
          <p:nvPr/>
        </p:nvSpPr>
        <p:spPr>
          <a:xfrm xmlns:a="http://schemas.openxmlformats.org/drawingml/2006/main">
            <a:off x="4343400" y="4219575"/>
            <a:ext cx="3095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Need clearer information</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about protein and portions.</a:t>
            </a:r>
          </a:p>
        </p:txBody>
      </p:sp>
      <p:sp>
        <p:nvSpPr>
          <p:cNvPr id="10" name="">
            <a:extLst xmlns:a="http://schemas.openxmlformats.org/drawingml/2006/main">
              <a:ext uri="{FF2B5EF4-FFF2-40B4-BE49-F238E27FC236}">
                <a16:creationId xmlns:a16="http://schemas.microsoft.com/office/drawing/2014/main" id="{9240830E-982F-4DD6-B59E-44F37B5B5939}"/>
              </a:ext>
            </a:extLst>
          </p:cNvPr>
          <p:cNvSpPr>
            <a:spLocks xmlns:a="http://schemas.openxmlformats.org/drawingml/2006/main" noGrp="1"/>
          </p:cNvSpPr>
          <p:nvPr/>
        </p:nvSpPr>
        <p:spPr>
          <a:xfrm xmlns:a="http://schemas.openxmlformats.org/drawingml/2006/main">
            <a:off x="8058150" y="37528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Busy households</a:t>
            </a:r>
          </a:p>
        </p:txBody>
      </p:sp>
      <p:sp>
        <p:nvSpPr>
          <p:cNvPr id="11" name="">
            <a:extLst xmlns:a="http://schemas.openxmlformats.org/drawingml/2006/main">
              <a:ext uri="{FF2B5EF4-FFF2-40B4-BE49-F238E27FC236}">
                <a16:creationId xmlns:a16="http://schemas.microsoft.com/office/drawing/2014/main" id="{9768AB5B-3384-4709-AC37-73CD7B40ADE3}"/>
              </a:ext>
            </a:extLst>
          </p:cNvPr>
          <p:cNvSpPr>
            <a:spLocks xmlns:a="http://schemas.openxmlformats.org/drawingml/2006/main" noGrp="1"/>
          </p:cNvSpPr>
          <p:nvPr/>
        </p:nvSpPr>
        <p:spPr>
          <a:xfrm xmlns:a="http://schemas.openxmlformats.org/drawingml/2006/main">
            <a:off x="8058150" y="42195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Face the daily decision</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of what to prepare.</a:t>
            </a:r>
          </a:p>
        </p:txBody>
      </p:sp>
      <p:sp>
        <p:nvSpPr>
          <p:cNvPr id="12" name="">
            <a:extLst xmlns:a="http://schemas.openxmlformats.org/drawingml/2006/main">
              <a:ext uri="{FF2B5EF4-FFF2-40B4-BE49-F238E27FC236}">
                <a16:creationId xmlns:a16="http://schemas.microsoft.com/office/drawing/2014/main" id="{4A1AB7B5-C7C5-43B3-86AF-60CDD37F4259}"/>
              </a:ext>
            </a:extLst>
          </p:cNvPr>
          <p:cNvSpPr>
            <a:spLocks xmlns:a="http://schemas.openxmlformats.org/drawingml/2006/main" noGrp="1"/>
          </p:cNvSpPr>
          <p:nvPr/>
        </p:nvSpPr>
        <p:spPr>
          <a:xfrm xmlns:a="http://schemas.openxmlformats.org/drawingml/2006/main">
            <a:off x="609600" y="55435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5C"/>
                </a:solidFill>
                <a:latin typeface="Bitstream Charter"/>
                <a:ea typeface="Bitstream Charter"/>
                <a:cs typeface="Bitstream Charter"/>
              </a:defRPr>
            </a:pPr>
            <a:r>
              <a:rPr sz="1950" b="0">
                <a:solidFill>
                  <a:srgbClr val="52655C"/>
                </a:solidFill>
                <a:latin typeface="Bitstream Charter"/>
                <a:ea typeface="Bitstream Charter"/>
                <a:cs typeface="Bitstream Charter"/>
              </a:rPr>
              <a:t>The result can be more takeaway, unused ingredients and inconsistent eating habits.</a:t>
            </a:r>
          </a:p>
        </p:txBody>
      </p:sp>
    </p:spTree>
    <p:extLst>
      <p:ext uri="{BB962C8B-B14F-4D97-AF65-F5344CB8AC3E}">
        <p14:creationId xmlns:p14="http://schemas.microsoft.com/office/powerpoint/2010/main" val="1160785613"/>
      </p:ext>
    </p:extLst>
  </p:cSld>
</p:sld>
</file>

<file path=ppt/slides/slide2.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0B6029-158A-4C57-ADC6-CAE27E33B5C1}"/>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5EC"/>
                </a:solidFill>
                <a:latin typeface="Bitstream Charter"/>
                <a:ea typeface="Bitstream Charter"/>
                <a:cs typeface="Bitstream Charter"/>
              </a:defRPr>
            </a:pPr>
            <a:r>
              <a:rPr sz="1800" b="1">
                <a:solidFill>
                  <a:srgbClr val="F8F5EC"/>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479D2ED4-4901-4C6F-B7F3-B6342184F06F}"/>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4E0D3"/>
                </a:solidFill>
                <a:latin typeface="Bitstream Charter"/>
                <a:ea typeface="Bitstream Charter"/>
                <a:cs typeface="Bitstream Charter"/>
              </a:defRPr>
            </a:pPr>
            <a:r>
              <a:rPr sz="1425" b="1">
                <a:solidFill>
                  <a:srgbClr val="D4E0D3"/>
                </a:solidFill>
                <a:latin typeface="Bitstream Charter"/>
                <a:ea typeface="Bitstream Charter"/>
                <a:cs typeface="Bitstream Charter"/>
              </a:rPr>
              <a:t>SOLUTION</a:t>
            </a:r>
          </a:p>
        </p:txBody>
      </p:sp>
      <p:sp>
        <p:nvSpPr>
          <p:cNvPr id="3" name="">
            <a:extLst xmlns:a="http://schemas.openxmlformats.org/drawingml/2006/main">
              <a:ext uri="{FF2B5EF4-FFF2-40B4-BE49-F238E27FC236}">
                <a16:creationId xmlns:a16="http://schemas.microsoft.com/office/drawing/2014/main" id="{6E7FA11B-80E3-46B8-8E8B-5AD6E4937C0A}"/>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8F5EC"/>
                </a:solidFill>
                <a:latin typeface="Bitstream Charter"/>
                <a:ea typeface="Bitstream Charter"/>
                <a:cs typeface="Bitstream Charter"/>
              </a:defRPr>
            </a:pPr>
            <a:r>
              <a:rPr sz="3600" b="1">
                <a:solidFill>
                  <a:srgbClr val="F8F5EC"/>
                </a:solidFill>
                <a:latin typeface="Bitstream Charter"/>
                <a:ea typeface="Bitstream Charter"/>
                <a:cs typeface="Bitstream Charter"/>
              </a:rPr>
              <a:t>NutriVision makes home cooking easier</a:t>
            </a:r>
          </a:p>
        </p:txBody>
      </p:sp>
      <p:sp>
        <p:nvSpPr>
          <p:cNvPr id="4" name="">
            <a:extLst xmlns:a="http://schemas.openxmlformats.org/drawingml/2006/main">
              <a:ext uri="{FF2B5EF4-FFF2-40B4-BE49-F238E27FC236}">
                <a16:creationId xmlns:a16="http://schemas.microsoft.com/office/drawing/2014/main" id="{21C0B40F-1129-4800-8815-2F26C28581F5}"/>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8F5EC"/>
                </a:solidFill>
                <a:latin typeface="Bitstream Charter"/>
                <a:ea typeface="Bitstream Charter"/>
                <a:cs typeface="Bitstream Charter"/>
              </a:defRPr>
            </a:pPr>
            <a:r>
              <a:rPr sz="1350" b="0">
                <a:solidFill>
                  <a:srgbClr val="F8F5EC"/>
                </a:solidFill>
                <a:latin typeface="Bitstream Charter"/>
                <a:ea typeface="Bitstream Charter"/>
                <a:cs typeface="Bitstream Charter"/>
              </a:rPr>
              <a:t>02</a:t>
            </a:r>
          </a:p>
        </p:txBody>
      </p:sp>
      <p:sp>
        <p:nvSpPr>
          <p:cNvPr id="5" name="">
            <a:extLst xmlns:a="http://schemas.openxmlformats.org/drawingml/2006/main">
              <a:ext uri="{FF2B5EF4-FFF2-40B4-BE49-F238E27FC236}">
                <a16:creationId xmlns:a16="http://schemas.microsoft.com/office/drawing/2014/main" id="{0CB0CE61-76C6-4DEF-815D-9AD6E3CFA7DF}"/>
              </a:ext>
            </a:extLst>
          </p:cNvPr>
          <p:cNvSpPr>
            <a:spLocks xmlns:a="http://schemas.openxmlformats.org/drawingml/2006/main" noGrp="1"/>
          </p:cNvSpPr>
          <p:nvPr/>
        </p:nvSpPr>
        <p:spPr>
          <a:xfrm xmlns:a="http://schemas.openxmlformats.org/drawingml/2006/main">
            <a:off x="609600" y="27241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DA499921-0118-4908-BE33-11D58565B07D}"/>
              </a:ext>
            </a:extLst>
          </p:cNvPr>
          <p:cNvSpPr>
            <a:spLocks xmlns:a="http://schemas.openxmlformats.org/drawingml/2006/main" noGrp="1"/>
          </p:cNvSpPr>
          <p:nvPr/>
        </p:nvSpPr>
        <p:spPr>
          <a:xfrm xmlns:a="http://schemas.openxmlformats.org/drawingml/2006/main">
            <a:off x="1809750" y="273367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Choose a meal</a:t>
            </a:r>
          </a:p>
        </p:txBody>
      </p:sp>
      <p:sp>
        <p:nvSpPr>
          <p:cNvPr id="7" name="">
            <a:extLst xmlns:a="http://schemas.openxmlformats.org/drawingml/2006/main">
              <a:ext uri="{FF2B5EF4-FFF2-40B4-BE49-F238E27FC236}">
                <a16:creationId xmlns:a16="http://schemas.microsoft.com/office/drawing/2014/main" id="{67D5D822-6536-41E5-9E54-F0C30A741F3C}"/>
              </a:ext>
            </a:extLst>
          </p:cNvPr>
          <p:cNvSpPr>
            <a:spLocks xmlns:a="http://schemas.openxmlformats.org/drawingml/2006/main" noGrp="1"/>
          </p:cNvSpPr>
          <p:nvPr/>
        </p:nvSpPr>
        <p:spPr>
          <a:xfrm xmlns:a="http://schemas.openxmlformats.org/drawingml/2006/main">
            <a:off x="1809750" y="3190875"/>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Order one meal, a full day, or a weekly or monthly subscription.</a:t>
            </a:r>
          </a:p>
        </p:txBody>
      </p:sp>
      <p:sp>
        <p:nvSpPr>
          <p:cNvPr id="8" name="">
            <a:extLst xmlns:a="http://schemas.openxmlformats.org/drawingml/2006/main">
              <a:ext uri="{FF2B5EF4-FFF2-40B4-BE49-F238E27FC236}">
                <a16:creationId xmlns:a16="http://schemas.microsoft.com/office/drawing/2014/main" id="{385916F1-D05B-49DA-A2F4-466A07D2085E}"/>
              </a:ext>
            </a:extLst>
          </p:cNvPr>
          <p:cNvSpPr>
            <a:spLocks xmlns:a="http://schemas.openxmlformats.org/drawingml/2006/main" noGrp="1"/>
          </p:cNvSpPr>
          <p:nvPr/>
        </p:nvSpPr>
        <p:spPr>
          <a:xfrm xmlns:a="http://schemas.openxmlformats.org/drawingml/2006/main">
            <a:off x="609600" y="38862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02</a:t>
            </a:r>
          </a:p>
        </p:txBody>
      </p:sp>
      <p:sp>
        <p:nvSpPr>
          <p:cNvPr id="9" name="">
            <a:extLst xmlns:a="http://schemas.openxmlformats.org/drawingml/2006/main">
              <a:ext uri="{FF2B5EF4-FFF2-40B4-BE49-F238E27FC236}">
                <a16:creationId xmlns:a16="http://schemas.microsoft.com/office/drawing/2014/main" id="{F94E9A29-55C5-4C8D-B95D-F3A2EADF6D39}"/>
              </a:ext>
            </a:extLst>
          </p:cNvPr>
          <p:cNvSpPr>
            <a:spLocks xmlns:a="http://schemas.openxmlformats.org/drawingml/2006/main" noGrp="1"/>
          </p:cNvSpPr>
          <p:nvPr/>
        </p:nvSpPr>
        <p:spPr>
          <a:xfrm xmlns:a="http://schemas.openxmlformats.org/drawingml/2006/main">
            <a:off x="1809750" y="389572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Receive measured ingredients</a:t>
            </a:r>
          </a:p>
        </p:txBody>
      </p:sp>
      <p:sp>
        <p:nvSpPr>
          <p:cNvPr id="10" name="">
            <a:extLst xmlns:a="http://schemas.openxmlformats.org/drawingml/2006/main">
              <a:ext uri="{FF2B5EF4-FFF2-40B4-BE49-F238E27FC236}">
                <a16:creationId xmlns:a16="http://schemas.microsoft.com/office/drawing/2014/main" id="{9B06E833-FD29-4A16-A40A-A783E9540DC7}"/>
              </a:ext>
            </a:extLst>
          </p:cNvPr>
          <p:cNvSpPr>
            <a:spLocks xmlns:a="http://schemas.openxmlformats.org/drawingml/2006/main" noGrp="1"/>
          </p:cNvSpPr>
          <p:nvPr/>
        </p:nvSpPr>
        <p:spPr>
          <a:xfrm xmlns:a="http://schemas.openxmlformats.org/drawingml/2006/main">
            <a:off x="1809750" y="4352925"/>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A starter kit adds measuring spoons, a scoop, a thermometer and a scale.</a:t>
            </a:r>
          </a:p>
        </p:txBody>
      </p:sp>
      <p:sp>
        <p:nvSpPr>
          <p:cNvPr id="11" name="">
            <a:extLst xmlns:a="http://schemas.openxmlformats.org/drawingml/2006/main">
              <a:ext uri="{FF2B5EF4-FFF2-40B4-BE49-F238E27FC236}">
                <a16:creationId xmlns:a16="http://schemas.microsoft.com/office/drawing/2014/main" id="{B2F014BA-5AF3-4B3A-A20C-4A6590CB4869}"/>
              </a:ext>
            </a:extLst>
          </p:cNvPr>
          <p:cNvSpPr>
            <a:spLocks xmlns:a="http://schemas.openxmlformats.org/drawingml/2006/main" noGrp="1"/>
          </p:cNvSpPr>
          <p:nvPr/>
        </p:nvSpPr>
        <p:spPr>
          <a:xfrm xmlns:a="http://schemas.openxmlformats.org/drawingml/2006/main">
            <a:off x="609600" y="509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03</a:t>
            </a:r>
          </a:p>
        </p:txBody>
      </p:sp>
      <p:sp>
        <p:nvSpPr>
          <p:cNvPr id="12" name="">
            <a:extLst xmlns:a="http://schemas.openxmlformats.org/drawingml/2006/main">
              <a:ext uri="{FF2B5EF4-FFF2-40B4-BE49-F238E27FC236}">
                <a16:creationId xmlns:a16="http://schemas.microsoft.com/office/drawing/2014/main" id="{844B8CE9-E908-4C09-BC89-0A474AAD0001}"/>
              </a:ext>
            </a:extLst>
          </p:cNvPr>
          <p:cNvSpPr>
            <a:spLocks xmlns:a="http://schemas.openxmlformats.org/drawingml/2006/main" noGrp="1"/>
          </p:cNvSpPr>
          <p:nvPr/>
        </p:nvSpPr>
        <p:spPr>
          <a:xfrm xmlns:a="http://schemas.openxmlformats.org/drawingml/2006/main">
            <a:off x="1809750" y="510540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Cook with step-by-step guidance</a:t>
            </a:r>
          </a:p>
        </p:txBody>
      </p:sp>
      <p:sp>
        <p:nvSpPr>
          <p:cNvPr id="13" name="">
            <a:extLst xmlns:a="http://schemas.openxmlformats.org/drawingml/2006/main">
              <a:ext uri="{FF2B5EF4-FFF2-40B4-BE49-F238E27FC236}">
                <a16:creationId xmlns:a16="http://schemas.microsoft.com/office/drawing/2014/main" id="{EFD6CD71-492D-4A68-92E1-61A4ED1C80F3}"/>
              </a:ext>
            </a:extLst>
          </p:cNvPr>
          <p:cNvSpPr>
            <a:spLocks xmlns:a="http://schemas.openxmlformats.org/drawingml/2006/main" noGrp="1"/>
          </p:cNvSpPr>
          <p:nvPr/>
        </p:nvSpPr>
        <p:spPr>
          <a:xfrm xmlns:a="http://schemas.openxmlformats.org/drawingml/2006/main">
            <a:off x="1809750" y="55626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The app shows instructions and estimated calories and nutrients per serving.</a:t>
            </a:r>
          </a:p>
        </p:txBody>
      </p:sp>
    </p:spTree>
    <p:extLst>
      <p:ext uri="{BB962C8B-B14F-4D97-AF65-F5344CB8AC3E}">
        <p14:creationId xmlns:p14="http://schemas.microsoft.com/office/powerpoint/2010/main" val="572796993"/>
      </p:ext>
    </p:extLst>
  </p:cSld>
</p:sld>
</file>

<file path=ppt/slides/slide3.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867AA1-AD3D-48D8-8D7B-B6F26473830A}"/>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6DB2D9B5-9B06-41E7-9AA6-7939B36C3507}"/>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MARKET</a:t>
            </a:r>
          </a:p>
        </p:txBody>
      </p:sp>
      <p:sp>
        <p:nvSpPr>
          <p:cNvPr id="3" name="">
            <a:extLst xmlns:a="http://schemas.openxmlformats.org/drawingml/2006/main">
              <a:ext uri="{FF2B5EF4-FFF2-40B4-BE49-F238E27FC236}">
                <a16:creationId xmlns:a16="http://schemas.microsoft.com/office/drawing/2014/main" id="{4F4DEAF7-DD81-496E-92B9-8CB7681B6F2D}"/>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A Bahrain-wide market with a focused pilot</a:t>
            </a:r>
          </a:p>
        </p:txBody>
      </p:sp>
      <p:sp>
        <p:nvSpPr>
          <p:cNvPr id="4" name="">
            <a:extLst xmlns:a="http://schemas.openxmlformats.org/drawingml/2006/main">
              <a:ext uri="{FF2B5EF4-FFF2-40B4-BE49-F238E27FC236}">
                <a16:creationId xmlns:a16="http://schemas.microsoft.com/office/drawing/2014/main" id="{28D0AB52-024B-4C61-88D7-EAB92B319DDB}"/>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03</a:t>
            </a:r>
          </a:p>
        </p:txBody>
      </p:sp>
      <p:sp>
        <p:nvSpPr>
          <p:cNvPr id="5" name="">
            <a:extLst xmlns:a="http://schemas.openxmlformats.org/drawingml/2006/main">
              <a:ext uri="{FF2B5EF4-FFF2-40B4-BE49-F238E27FC236}">
                <a16:creationId xmlns:a16="http://schemas.microsoft.com/office/drawing/2014/main" id="{D4DD0C67-38DF-4258-AADF-802367251F1F}"/>
              </a:ext>
            </a:extLst>
          </p:cNvPr>
          <p:cNvSpPr>
            <a:spLocks xmlns:a="http://schemas.openxmlformats.org/drawingml/2006/main" noGrp="1"/>
          </p:cNvSpPr>
          <p:nvPr/>
        </p:nvSpPr>
        <p:spPr>
          <a:xfrm xmlns:a="http://schemas.openxmlformats.org/drawingml/2006/main">
            <a:off x="609600" y="2667000"/>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850" b="1">
                <a:solidFill>
                  <a:srgbClr val="173F35"/>
                </a:solidFill>
                <a:latin typeface="Bitstream Charter"/>
                <a:ea typeface="Bitstream Charter"/>
                <a:cs typeface="Bitstream Charter"/>
              </a:defRPr>
            </a:pPr>
            <a:r>
              <a:rPr sz="8850" b="1">
                <a:solidFill>
                  <a:srgbClr val="173F35"/>
                </a:solidFill>
                <a:latin typeface="Bitstream Charter"/>
                <a:ea typeface="Bitstream Charter"/>
                <a:cs typeface="Bitstream Charter"/>
              </a:rPr>
              <a:t>30</a:t>
            </a:r>
          </a:p>
        </p:txBody>
      </p:sp>
      <p:sp>
        <p:nvSpPr>
          <p:cNvPr id="6" name="">
            <a:extLst xmlns:a="http://schemas.openxmlformats.org/drawingml/2006/main">
              <a:ext uri="{FF2B5EF4-FFF2-40B4-BE49-F238E27FC236}">
                <a16:creationId xmlns:a16="http://schemas.microsoft.com/office/drawing/2014/main" id="{660DE1A0-97A4-439F-8A1E-DA73ACE859B8}"/>
              </a:ext>
            </a:extLst>
          </p:cNvPr>
          <p:cNvSpPr>
            <a:spLocks xmlns:a="http://schemas.openxmlformats.org/drawingml/2006/main" noGrp="1"/>
          </p:cNvSpPr>
          <p:nvPr/>
        </p:nvSpPr>
        <p:spPr>
          <a:xfrm xmlns:a="http://schemas.openxmlformats.org/drawingml/2006/main">
            <a:off x="666750" y="4019550"/>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F35"/>
                </a:solidFill>
                <a:latin typeface="Bitstream Charter"/>
                <a:ea typeface="Bitstream Charter"/>
                <a:cs typeface="Bitstream Charter"/>
              </a:defRPr>
            </a:pPr>
            <a:r>
              <a:rPr sz="2250" b="1">
                <a:solidFill>
                  <a:srgbClr val="173F35"/>
                </a:solidFill>
                <a:latin typeface="Bitstream Charter"/>
                <a:ea typeface="Bitstream Charter"/>
                <a:cs typeface="Bitstream Charter"/>
              </a:rPr>
              <a:t>customers in the proposed pilot</a:t>
            </a:r>
          </a:p>
        </p:txBody>
      </p:sp>
      <p:sp>
        <p:nvSpPr>
          <p:cNvPr id="7" name="">
            <a:extLst xmlns:a="http://schemas.openxmlformats.org/drawingml/2006/main">
              <a:ext uri="{FF2B5EF4-FFF2-40B4-BE49-F238E27FC236}">
                <a16:creationId xmlns:a16="http://schemas.microsoft.com/office/drawing/2014/main" id="{E74FBDDA-E34E-43D0-84AA-249D796868E9}"/>
              </a:ext>
            </a:extLst>
          </p:cNvPr>
          <p:cNvSpPr>
            <a:spLocks xmlns:a="http://schemas.openxmlformats.org/drawingml/2006/main" noGrp="1"/>
          </p:cNvSpPr>
          <p:nvPr/>
        </p:nvSpPr>
        <p:spPr>
          <a:xfrm xmlns:a="http://schemas.openxmlformats.org/drawingml/2006/main">
            <a:off x="666750" y="496252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Recruitment target.</a:t>
            </a:r>
          </a:p>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No existing traction claimed.</a:t>
            </a:r>
          </a:p>
        </p:txBody>
      </p:sp>
      <p:sp>
        <p:nvSpPr>
          <p:cNvPr id="8" name="">
            <a:extLst xmlns:a="http://schemas.openxmlformats.org/drawingml/2006/main">
              <a:ext uri="{FF2B5EF4-FFF2-40B4-BE49-F238E27FC236}">
                <a16:creationId xmlns:a16="http://schemas.microsoft.com/office/drawing/2014/main" id="{C7B2B59A-5023-4903-BADD-AF3F3BF3478E}"/>
              </a:ext>
            </a:extLst>
          </p:cNvPr>
          <p:cNvSpPr>
            <a:spLocks xmlns:a="http://schemas.openxmlformats.org/drawingml/2006/main" noGrp="1"/>
          </p:cNvSpPr>
          <p:nvPr/>
        </p:nvSpPr>
        <p:spPr>
          <a:xfrm xmlns:a="http://schemas.openxmlformats.org/drawingml/2006/main">
            <a:off x="5619750" y="26670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65431"/>
                </a:solidFill>
                <a:latin typeface="Bitstream Charter"/>
                <a:ea typeface="Bitstream Charter"/>
                <a:cs typeface="Bitstream Charter"/>
              </a:defRPr>
            </a:pPr>
            <a:r>
              <a:rPr sz="2100" b="1">
                <a:solidFill>
                  <a:srgbClr val="A65431"/>
                </a:solidFill>
                <a:latin typeface="Bitstream Charter"/>
                <a:ea typeface="Bitstream Charter"/>
                <a:cs typeface="Bitstream Charter"/>
              </a:rPr>
              <a:t>Initial audience</a:t>
            </a:r>
          </a:p>
        </p:txBody>
      </p:sp>
      <p:sp>
        <p:nvSpPr>
          <p:cNvPr id="9" name="">
            <a:extLst xmlns:a="http://schemas.openxmlformats.org/drawingml/2006/main">
              <a:ext uri="{FF2B5EF4-FFF2-40B4-BE49-F238E27FC236}">
                <a16:creationId xmlns:a16="http://schemas.microsoft.com/office/drawing/2014/main" id="{F582B5AA-BB1B-403A-9900-23739F0D1988}"/>
              </a:ext>
            </a:extLst>
          </p:cNvPr>
          <p:cNvSpPr>
            <a:spLocks xmlns:a="http://schemas.openxmlformats.org/drawingml/2006/main" noGrp="1"/>
          </p:cNvSpPr>
          <p:nvPr/>
        </p:nvSpPr>
        <p:spPr>
          <a:xfrm xmlns:a="http://schemas.openxmlformats.org/drawingml/2006/main">
            <a:off x="5619750" y="3171825"/>
            <a:ext cx="5667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Young adults, couples, beginners and busy people who want an easier way to cook at home.</a:t>
            </a:r>
          </a:p>
        </p:txBody>
      </p:sp>
      <p:sp>
        <p:nvSpPr>
          <p:cNvPr id="10" name="">
            <a:extLst xmlns:a="http://schemas.openxmlformats.org/drawingml/2006/main">
              <a:ext uri="{FF2B5EF4-FFF2-40B4-BE49-F238E27FC236}">
                <a16:creationId xmlns:a16="http://schemas.microsoft.com/office/drawing/2014/main" id="{FC34C653-2F6E-46B8-A9A9-3D5FC149EB92}"/>
              </a:ext>
            </a:extLst>
          </p:cNvPr>
          <p:cNvSpPr>
            <a:spLocks xmlns:a="http://schemas.openxmlformats.org/drawingml/2006/main" noGrp="1"/>
          </p:cNvSpPr>
          <p:nvPr/>
        </p:nvSpPr>
        <p:spPr>
          <a:xfrm xmlns:a="http://schemas.openxmlformats.org/drawingml/2006/main">
            <a:off x="5619750" y="4457700"/>
            <a:ext cx="566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65431"/>
                </a:solidFill>
                <a:latin typeface="Bitstream Charter"/>
                <a:ea typeface="Bitstream Charter"/>
                <a:cs typeface="Bitstream Charter"/>
              </a:defRPr>
            </a:pPr>
            <a:r>
              <a:rPr sz="1950" b="1">
                <a:solidFill>
                  <a:srgbClr val="A65431"/>
                </a:solidFill>
                <a:latin typeface="Bitstream Charter"/>
                <a:ea typeface="Bitstream Charter"/>
                <a:cs typeface="Bitstream Charter"/>
              </a:rPr>
              <a:t>Across Bahrain</a:t>
            </a:r>
          </a:p>
        </p:txBody>
      </p:sp>
      <p:sp>
        <p:nvSpPr>
          <p:cNvPr id="11" name="">
            <a:extLst xmlns:a="http://schemas.openxmlformats.org/drawingml/2006/main">
              <a:ext uri="{FF2B5EF4-FFF2-40B4-BE49-F238E27FC236}">
                <a16:creationId xmlns:a16="http://schemas.microsoft.com/office/drawing/2014/main" id="{51C3E537-85F6-4755-A137-24B1583E6634}"/>
              </a:ext>
            </a:extLst>
          </p:cNvPr>
          <p:cNvSpPr>
            <a:spLocks xmlns:a="http://schemas.openxmlformats.org/drawingml/2006/main" noGrp="1"/>
          </p:cNvSpPr>
          <p:nvPr/>
        </p:nvSpPr>
        <p:spPr>
          <a:xfrm xmlns:a="http://schemas.openxmlformats.org/drawingml/2006/main">
            <a:off x="5619750" y="4914900"/>
            <a:ext cx="566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The long-term goal is delivery across all areas. The household market size still needs verification.</a:t>
            </a:r>
          </a:p>
        </p:txBody>
      </p:sp>
      <p:sp>
        <p:nvSpPr>
          <p:cNvPr id="12" name="">
            <a:extLst xmlns:a="http://schemas.openxmlformats.org/drawingml/2006/main">
              <a:ext uri="{FF2B5EF4-FFF2-40B4-BE49-F238E27FC236}">
                <a16:creationId xmlns:a16="http://schemas.microsoft.com/office/drawing/2014/main" id="{263F948E-18BC-4C68-A21E-35A22E89BB10}"/>
              </a:ext>
            </a:extLst>
          </p:cNvPr>
          <p:cNvSpPr>
            <a:spLocks xmlns:a="http://schemas.openxmlformats.org/drawingml/2006/main" noGrp="1"/>
          </p:cNvSpPr>
          <p:nvPr/>
        </p:nvSpPr>
        <p:spPr>
          <a:xfrm xmlns:a="http://schemas.openxmlformats.org/drawingml/2006/main">
            <a:off x="5619750" y="5781675"/>
            <a:ext cx="566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Expand based on repeat purchases and delivery capacity.</a:t>
            </a:r>
          </a:p>
        </p:txBody>
      </p:sp>
    </p:spTree>
    <p:extLst>
      <p:ext uri="{BB962C8B-B14F-4D97-AF65-F5344CB8AC3E}">
        <p14:creationId xmlns:p14="http://schemas.microsoft.com/office/powerpoint/2010/main" val="657209728"/>
      </p:ext>
    </p:extLst>
  </p:cSld>
</p:sld>
</file>

<file path=ppt/slides/slide4.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FB1F4D4-B16D-4F62-87AA-F7C185FD3629}"/>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65A7F53F-4EE4-4763-A2E9-4D08FFEC5454}"/>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PRODUCT</a:t>
            </a:r>
          </a:p>
        </p:txBody>
      </p:sp>
      <p:sp>
        <p:nvSpPr>
          <p:cNvPr id="3" name="">
            <a:extLst xmlns:a="http://schemas.openxmlformats.org/drawingml/2006/main">
              <a:ext uri="{FF2B5EF4-FFF2-40B4-BE49-F238E27FC236}">
                <a16:creationId xmlns:a16="http://schemas.microsoft.com/office/drawing/2014/main" id="{886902A8-8CB2-498B-BC91-3DB155156A08}"/>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The NutriVision meal-kit prototype</a:t>
            </a:r>
          </a:p>
        </p:txBody>
      </p:sp>
      <p:sp>
        <p:nvSpPr>
          <p:cNvPr id="4" name="">
            <a:extLst xmlns:a="http://schemas.openxmlformats.org/drawingml/2006/main">
              <a:ext uri="{FF2B5EF4-FFF2-40B4-BE49-F238E27FC236}">
                <a16:creationId xmlns:a16="http://schemas.microsoft.com/office/drawing/2014/main" id="{1DB0BEFA-3DAF-4E6E-A99C-4F36D217F8C1}"/>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04</a:t>
            </a:r>
          </a:p>
        </p:txBody>
      </p:sp>
      <p:sp>
        <p:nvSpPr>
          <p:cNvPr id="5" name="">
            <a:extLst xmlns:a="http://schemas.openxmlformats.org/drawingml/2006/main">
              <a:ext uri="{FF2B5EF4-FFF2-40B4-BE49-F238E27FC236}">
                <a16:creationId xmlns:a16="http://schemas.microsoft.com/office/drawing/2014/main" id="{EAB149BB-C49A-4264-87E4-D8D42494CC7F}"/>
              </a:ext>
            </a:extLst>
          </p:cNvPr>
          <p:cNvSpPr>
            <a:spLocks xmlns:a="http://schemas.openxmlformats.org/drawingml/2006/main" noGrp="1"/>
          </p:cNvSpPr>
          <p:nvPr/>
        </p:nvSpPr>
        <p:spPr>
          <a:xfrm xmlns:a="http://schemas.openxmlformats.org/drawingml/2006/main">
            <a:off x="609600" y="265747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Built in Flutter</a:t>
            </a:r>
          </a:p>
        </p:txBody>
      </p:sp>
      <p:sp>
        <p:nvSpPr>
          <p:cNvPr id="6" name="">
            <a:extLst xmlns:a="http://schemas.openxmlformats.org/drawingml/2006/main">
              <a:ext uri="{FF2B5EF4-FFF2-40B4-BE49-F238E27FC236}">
                <a16:creationId xmlns:a16="http://schemas.microsoft.com/office/drawing/2014/main" id="{9405A12B-9EA2-4FBE-9CA4-54BDA83C4256}"/>
              </a:ext>
            </a:extLst>
          </p:cNvPr>
          <p:cNvSpPr>
            <a:spLocks xmlns:a="http://schemas.openxmlformats.org/drawingml/2006/main" noGrp="1"/>
          </p:cNvSpPr>
          <p:nvPr/>
        </p:nvSpPr>
        <p:spPr>
          <a:xfrm xmlns:a="http://schemas.openxmlformats.org/drawingml/2006/main">
            <a:off x="609600" y="3152775"/>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Arabic storefront, recipe browsing, audience filters, favourites and a basket.</a:t>
            </a:r>
          </a:p>
        </p:txBody>
      </p:sp>
      <p:sp>
        <p:nvSpPr>
          <p:cNvPr id="7" name="">
            <a:extLst xmlns:a="http://schemas.openxmlformats.org/drawingml/2006/main">
              <a:ext uri="{FF2B5EF4-FFF2-40B4-BE49-F238E27FC236}">
                <a16:creationId xmlns:a16="http://schemas.microsoft.com/office/drawing/2014/main" id="{E0F24EA5-54F6-47A0-9BCD-81F8826D9CAA}"/>
              </a:ext>
            </a:extLst>
          </p:cNvPr>
          <p:cNvSpPr>
            <a:spLocks xmlns:a="http://schemas.openxmlformats.org/drawingml/2006/main" noGrp="1"/>
          </p:cNvSpPr>
          <p:nvPr/>
        </p:nvSpPr>
        <p:spPr>
          <a:xfrm xmlns:a="http://schemas.openxmlformats.org/drawingml/2006/main">
            <a:off x="609600" y="4181475"/>
            <a:ext cx="4905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Pricing, starter-kit selection, ingredient checklists, guided cooking and local demo orders.</a:t>
            </a:r>
          </a:p>
        </p:txBody>
      </p:sp>
      <p:sp>
        <p:nvSpPr>
          <p:cNvPr id="8" name="">
            <a:extLst xmlns:a="http://schemas.openxmlformats.org/drawingml/2006/main">
              <a:ext uri="{FF2B5EF4-FFF2-40B4-BE49-F238E27FC236}">
                <a16:creationId xmlns:a16="http://schemas.microsoft.com/office/drawing/2014/main" id="{68DA52A0-AA9E-485D-8366-704189249F2E}"/>
              </a:ext>
            </a:extLst>
          </p:cNvPr>
          <p:cNvSpPr>
            <a:spLocks xmlns:a="http://schemas.openxmlformats.org/drawingml/2006/main" noGrp="1"/>
          </p:cNvSpPr>
          <p:nvPr/>
        </p:nvSpPr>
        <p:spPr>
          <a:xfrm xmlns:a="http://schemas.openxmlformats.org/drawingml/2006/main">
            <a:off x="609600" y="5410200"/>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5431"/>
                </a:solidFill>
                <a:latin typeface="Bitstream Charter"/>
                <a:ea typeface="Bitstream Charter"/>
                <a:cs typeface="Bitstream Charter"/>
              </a:defRPr>
            </a:pPr>
            <a:r>
              <a:rPr sz="1800" b="1">
                <a:solidFill>
                  <a:srgbClr val="A65431"/>
                </a:solidFill>
                <a:latin typeface="Bitstream Charter"/>
                <a:ea typeface="Bitstream Charter"/>
                <a:cs typeface="Bitstream Charter"/>
              </a:rPr>
              <a:t>Full application testing remains outstanding.</a:t>
            </a:r>
          </a:p>
        </p:txBody>
      </p:sp>
      <p:sp>
        <p:nvSpPr>
          <p:cNvPr id="9" name="">
            <a:extLst xmlns:a="http://schemas.openxmlformats.org/drawingml/2006/main">
              <a:ext uri="{FF2B5EF4-FFF2-40B4-BE49-F238E27FC236}">
                <a16:creationId xmlns:a16="http://schemas.microsoft.com/office/drawing/2014/main" id="{118C8575-21B4-4A4B-9A9E-B6168726D1C2}"/>
              </a:ext>
            </a:extLst>
          </p:cNvPr>
          <p:cNvSpPr>
            <a:spLocks xmlns:a="http://schemas.openxmlformats.org/drawingml/2006/main" noGrp="1"/>
          </p:cNvSpPr>
          <p:nvPr/>
        </p:nvSpPr>
        <p:spPr>
          <a:xfrm xmlns:a="http://schemas.openxmlformats.org/drawingml/2006/main">
            <a:off x="6191250" y="26574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Four purchase options</a:t>
            </a:r>
          </a:p>
        </p:txBody>
      </p:sp>
      <p:sp>
        <p:nvSpPr>
          <p:cNvPr id="10" name="">
            <a:extLst xmlns:a="http://schemas.openxmlformats.org/drawingml/2006/main">
              <a:ext uri="{FF2B5EF4-FFF2-40B4-BE49-F238E27FC236}">
                <a16:creationId xmlns:a16="http://schemas.microsoft.com/office/drawing/2014/main" id="{93E6D435-86F2-4A34-8E93-03C52D068D0F}"/>
              </a:ext>
            </a:extLst>
          </p:cNvPr>
          <p:cNvSpPr>
            <a:spLocks xmlns:a="http://schemas.openxmlformats.org/drawingml/2006/main" noGrp="1"/>
          </p:cNvSpPr>
          <p:nvPr/>
        </p:nvSpPr>
        <p:spPr>
          <a:xfrm xmlns:a="http://schemas.openxmlformats.org/drawingml/2006/main">
            <a:off x="6191250" y="321945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F35"/>
                </a:solidFill>
                <a:latin typeface="Bitstream Charter"/>
                <a:ea typeface="Bitstream Charter"/>
                <a:cs typeface="Bitstream Charter"/>
              </a:defRPr>
            </a:pPr>
            <a:r>
              <a:rPr sz="1950" b="1">
                <a:solidFill>
                  <a:srgbClr val="173F35"/>
                </a:solidFill>
                <a:latin typeface="Bitstream Charter"/>
                <a:ea typeface="Bitstream Charter"/>
                <a:cs typeface="Bitstream Charter"/>
              </a:rPr>
              <a:t>One meal</a:t>
            </a:r>
          </a:p>
        </p:txBody>
      </p:sp>
      <p:sp>
        <p:nvSpPr>
          <p:cNvPr id="11" name="">
            <a:extLst xmlns:a="http://schemas.openxmlformats.org/drawingml/2006/main">
              <a:ext uri="{FF2B5EF4-FFF2-40B4-BE49-F238E27FC236}">
                <a16:creationId xmlns:a16="http://schemas.microsoft.com/office/drawing/2014/main" id="{77B1BAAE-EF3E-49B5-9352-3C571AD87BBE}"/>
              </a:ext>
            </a:extLst>
          </p:cNvPr>
          <p:cNvSpPr>
            <a:spLocks xmlns:a="http://schemas.openxmlformats.org/drawingml/2006/main" noGrp="1"/>
          </p:cNvSpPr>
          <p:nvPr/>
        </p:nvSpPr>
        <p:spPr>
          <a:xfrm xmlns:a="http://schemas.openxmlformats.org/drawingml/2006/main">
            <a:off x="8477250" y="32194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F35"/>
                </a:solidFill>
                <a:latin typeface="Bitstream Charter"/>
                <a:ea typeface="Bitstream Charter"/>
                <a:cs typeface="Bitstream Charter"/>
              </a:defRPr>
            </a:pPr>
            <a:r>
              <a:rPr sz="1950" b="0">
                <a:solidFill>
                  <a:srgbClr val="173F35"/>
                </a:solidFill>
                <a:latin typeface="Bitstream Charter"/>
                <a:ea typeface="Bitstream Charter"/>
                <a:cs typeface="Bitstream Charter"/>
              </a:rPr>
              <a:t>1 box</a:t>
            </a:r>
          </a:p>
        </p:txBody>
      </p:sp>
      <p:sp>
        <p:nvSpPr>
          <p:cNvPr id="12" name="">
            <a:extLst xmlns:a="http://schemas.openxmlformats.org/drawingml/2006/main">
              <a:ext uri="{FF2B5EF4-FFF2-40B4-BE49-F238E27FC236}">
                <a16:creationId xmlns:a16="http://schemas.microsoft.com/office/drawing/2014/main" id="{842120F5-74B5-4CB8-A6CC-B8652B8DFEE8}"/>
              </a:ext>
            </a:extLst>
          </p:cNvPr>
          <p:cNvSpPr>
            <a:spLocks xmlns:a="http://schemas.openxmlformats.org/drawingml/2006/main" noGrp="1"/>
          </p:cNvSpPr>
          <p:nvPr/>
        </p:nvSpPr>
        <p:spPr>
          <a:xfrm xmlns:a="http://schemas.openxmlformats.org/drawingml/2006/main">
            <a:off x="6191250" y="374332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F35"/>
                </a:solidFill>
                <a:latin typeface="Bitstream Charter"/>
                <a:ea typeface="Bitstream Charter"/>
                <a:cs typeface="Bitstream Charter"/>
              </a:defRPr>
            </a:pPr>
            <a:r>
              <a:rPr sz="1950" b="1">
                <a:solidFill>
                  <a:srgbClr val="173F35"/>
                </a:solidFill>
                <a:latin typeface="Bitstream Charter"/>
                <a:ea typeface="Bitstream Charter"/>
                <a:cs typeface="Bitstream Charter"/>
              </a:rPr>
              <a:t>Full day</a:t>
            </a:r>
          </a:p>
        </p:txBody>
      </p:sp>
      <p:sp>
        <p:nvSpPr>
          <p:cNvPr id="13" name="">
            <a:extLst xmlns:a="http://schemas.openxmlformats.org/drawingml/2006/main">
              <a:ext uri="{FF2B5EF4-FFF2-40B4-BE49-F238E27FC236}">
                <a16:creationId xmlns:a16="http://schemas.microsoft.com/office/drawing/2014/main" id="{4CA167D5-57D9-4F2A-A867-2DC6B1DB03A8}"/>
              </a:ext>
            </a:extLst>
          </p:cNvPr>
          <p:cNvSpPr>
            <a:spLocks xmlns:a="http://schemas.openxmlformats.org/drawingml/2006/main" noGrp="1"/>
          </p:cNvSpPr>
          <p:nvPr/>
        </p:nvSpPr>
        <p:spPr>
          <a:xfrm xmlns:a="http://schemas.openxmlformats.org/drawingml/2006/main">
            <a:off x="8477250" y="37433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F35"/>
                </a:solidFill>
                <a:latin typeface="Bitstream Charter"/>
                <a:ea typeface="Bitstream Charter"/>
                <a:cs typeface="Bitstream Charter"/>
              </a:defRPr>
            </a:pPr>
            <a:r>
              <a:rPr sz="1800" b="0">
                <a:solidFill>
                  <a:srgbClr val="173F35"/>
                </a:solidFill>
                <a:latin typeface="Bitstream Charter"/>
                <a:ea typeface="Bitstream Charter"/>
                <a:cs typeface="Bitstream Charter"/>
              </a:rPr>
              <a:t>Breakfast, lunch, dinner</a:t>
            </a:r>
          </a:p>
        </p:txBody>
      </p:sp>
      <p:sp>
        <p:nvSpPr>
          <p:cNvPr id="14" name="">
            <a:extLst xmlns:a="http://schemas.openxmlformats.org/drawingml/2006/main">
              <a:ext uri="{FF2B5EF4-FFF2-40B4-BE49-F238E27FC236}">
                <a16:creationId xmlns:a16="http://schemas.microsoft.com/office/drawing/2014/main" id="{D91223FD-3A08-45E6-BCC1-71CA76FD49C8}"/>
              </a:ext>
            </a:extLst>
          </p:cNvPr>
          <p:cNvSpPr>
            <a:spLocks xmlns:a="http://schemas.openxmlformats.org/drawingml/2006/main" noGrp="1"/>
          </p:cNvSpPr>
          <p:nvPr/>
        </p:nvSpPr>
        <p:spPr>
          <a:xfrm xmlns:a="http://schemas.openxmlformats.org/drawingml/2006/main">
            <a:off x="6191250" y="426720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F35"/>
                </a:solidFill>
                <a:latin typeface="Bitstream Charter"/>
                <a:ea typeface="Bitstream Charter"/>
                <a:cs typeface="Bitstream Charter"/>
              </a:defRPr>
            </a:pPr>
            <a:r>
              <a:rPr sz="1950" b="1">
                <a:solidFill>
                  <a:srgbClr val="173F35"/>
                </a:solidFill>
                <a:latin typeface="Bitstream Charter"/>
                <a:ea typeface="Bitstream Charter"/>
                <a:cs typeface="Bitstream Charter"/>
              </a:rPr>
              <a:t>Weekly</a:t>
            </a:r>
          </a:p>
        </p:txBody>
      </p:sp>
      <p:sp>
        <p:nvSpPr>
          <p:cNvPr id="15" name="">
            <a:extLst xmlns:a="http://schemas.openxmlformats.org/drawingml/2006/main">
              <a:ext uri="{FF2B5EF4-FFF2-40B4-BE49-F238E27FC236}">
                <a16:creationId xmlns:a16="http://schemas.microsoft.com/office/drawing/2014/main" id="{D05F20D3-B8CE-40EF-807A-D2DF676A877F}"/>
              </a:ext>
            </a:extLst>
          </p:cNvPr>
          <p:cNvSpPr>
            <a:spLocks xmlns:a="http://schemas.openxmlformats.org/drawingml/2006/main" noGrp="1"/>
          </p:cNvSpPr>
          <p:nvPr/>
        </p:nvSpPr>
        <p:spPr>
          <a:xfrm xmlns:a="http://schemas.openxmlformats.org/drawingml/2006/main">
            <a:off x="8477250" y="42672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F35"/>
                </a:solidFill>
                <a:latin typeface="Bitstream Charter"/>
                <a:ea typeface="Bitstream Charter"/>
                <a:cs typeface="Bitstream Charter"/>
              </a:defRPr>
            </a:pPr>
            <a:r>
              <a:rPr sz="1950" b="0">
                <a:solidFill>
                  <a:srgbClr val="173F35"/>
                </a:solidFill>
                <a:latin typeface="Bitstream Charter"/>
                <a:ea typeface="Bitstream Charter"/>
                <a:cs typeface="Bitstream Charter"/>
              </a:rPr>
              <a:t>5 meal boxes</a:t>
            </a:r>
          </a:p>
        </p:txBody>
      </p:sp>
      <p:sp>
        <p:nvSpPr>
          <p:cNvPr id="16" name="">
            <a:extLst xmlns:a="http://schemas.openxmlformats.org/drawingml/2006/main">
              <a:ext uri="{FF2B5EF4-FFF2-40B4-BE49-F238E27FC236}">
                <a16:creationId xmlns:a16="http://schemas.microsoft.com/office/drawing/2014/main" id="{0D8D380D-AC9A-49B5-9483-ACFDBBB70350}"/>
              </a:ext>
            </a:extLst>
          </p:cNvPr>
          <p:cNvSpPr>
            <a:spLocks xmlns:a="http://schemas.openxmlformats.org/drawingml/2006/main" noGrp="1"/>
          </p:cNvSpPr>
          <p:nvPr/>
        </p:nvSpPr>
        <p:spPr>
          <a:xfrm xmlns:a="http://schemas.openxmlformats.org/drawingml/2006/main">
            <a:off x="6191250" y="47910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F35"/>
                </a:solidFill>
                <a:latin typeface="Bitstream Charter"/>
                <a:ea typeface="Bitstream Charter"/>
                <a:cs typeface="Bitstream Charter"/>
              </a:defRPr>
            </a:pPr>
            <a:r>
              <a:rPr sz="1950" b="1">
                <a:solidFill>
                  <a:srgbClr val="173F35"/>
                </a:solidFill>
                <a:latin typeface="Bitstream Charter"/>
                <a:ea typeface="Bitstream Charter"/>
                <a:cs typeface="Bitstream Charter"/>
              </a:rPr>
              <a:t>Monthly</a:t>
            </a:r>
          </a:p>
        </p:txBody>
      </p:sp>
      <p:sp>
        <p:nvSpPr>
          <p:cNvPr id="17" name="">
            <a:extLst xmlns:a="http://schemas.openxmlformats.org/drawingml/2006/main">
              <a:ext uri="{FF2B5EF4-FFF2-40B4-BE49-F238E27FC236}">
                <a16:creationId xmlns:a16="http://schemas.microsoft.com/office/drawing/2014/main" id="{7EF30D8D-A299-4E71-B481-986AE13FAC1A}"/>
              </a:ext>
            </a:extLst>
          </p:cNvPr>
          <p:cNvSpPr>
            <a:spLocks xmlns:a="http://schemas.openxmlformats.org/drawingml/2006/main" noGrp="1"/>
          </p:cNvSpPr>
          <p:nvPr/>
        </p:nvSpPr>
        <p:spPr>
          <a:xfrm xmlns:a="http://schemas.openxmlformats.org/drawingml/2006/main">
            <a:off x="8477250" y="4791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F35"/>
                </a:solidFill>
                <a:latin typeface="Bitstream Charter"/>
                <a:ea typeface="Bitstream Charter"/>
                <a:cs typeface="Bitstream Charter"/>
              </a:defRPr>
            </a:pPr>
            <a:r>
              <a:rPr sz="1800" b="0">
                <a:solidFill>
                  <a:srgbClr val="173F35"/>
                </a:solidFill>
                <a:latin typeface="Bitstream Charter"/>
                <a:ea typeface="Bitstream Charter"/>
                <a:cs typeface="Bitstream Charter"/>
              </a:rPr>
              <a:t>20 boxes over 4 weeks</a:t>
            </a:r>
          </a:p>
        </p:txBody>
      </p:sp>
      <p:sp>
        <p:nvSpPr>
          <p:cNvPr id="18" name="">
            <a:extLst xmlns:a="http://schemas.openxmlformats.org/drawingml/2006/main">
              <a:ext uri="{FF2B5EF4-FFF2-40B4-BE49-F238E27FC236}">
                <a16:creationId xmlns:a16="http://schemas.microsoft.com/office/drawing/2014/main" id="{E9E2908B-2F97-42EF-89F7-1B22F7BF9983}"/>
              </a:ext>
            </a:extLst>
          </p:cNvPr>
          <p:cNvSpPr>
            <a:spLocks xmlns:a="http://schemas.openxmlformats.org/drawingml/2006/main" noGrp="1"/>
          </p:cNvSpPr>
          <p:nvPr/>
        </p:nvSpPr>
        <p:spPr>
          <a:xfrm xmlns:a="http://schemas.openxmlformats.org/drawingml/2006/main">
            <a:off x="6191250" y="5381625"/>
            <a:ext cx="5334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5C"/>
                </a:solidFill>
                <a:latin typeface="Bitstream Charter"/>
                <a:ea typeface="Bitstream Charter"/>
                <a:cs typeface="Bitstream Charter"/>
              </a:defRPr>
            </a:pPr>
            <a:r>
              <a:rPr sz="1725" b="0">
                <a:solidFill>
                  <a:srgbClr val="52655C"/>
                </a:solidFill>
                <a:latin typeface="Bitstream Charter"/>
                <a:ea typeface="Bitstream Charter"/>
                <a:cs typeface="Bitstream Charter"/>
              </a:rPr>
              <a:t>Each box serves two. Weekly and monthly packages cover one meal per day, five days per week.</a:t>
            </a:r>
          </a:p>
        </p:txBody>
      </p:sp>
      <p:sp>
        <p:nvSpPr>
          <p:cNvPr id="19" name="">
            <a:extLst xmlns:a="http://schemas.openxmlformats.org/drawingml/2006/main">
              <a:ext uri="{FF2B5EF4-FFF2-40B4-BE49-F238E27FC236}">
                <a16:creationId xmlns:a16="http://schemas.microsoft.com/office/drawing/2014/main" id="{D29CB0B0-2207-49B2-BB5F-B5529F757B14}"/>
              </a:ext>
            </a:extLst>
          </p:cNvPr>
          <p:cNvSpPr>
            <a:spLocks xmlns:a="http://schemas.openxmlformats.org/drawingml/2006/main" noGrp="1"/>
          </p:cNvSpPr>
          <p:nvPr/>
        </p:nvSpPr>
        <p:spPr>
          <a:xfrm xmlns:a="http://schemas.openxmlformats.org/drawingml/2006/main">
            <a:off x="609600" y="63150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5C"/>
                </a:solidFill>
                <a:latin typeface="Bitstream Charter"/>
                <a:ea typeface="Bitstream Charter"/>
                <a:cs typeface="Bitstream Charter"/>
              </a:defRPr>
            </a:pPr>
            <a:r>
              <a:rPr sz="1350" b="0">
                <a:solidFill>
                  <a:srgbClr val="52655C"/>
                </a:solidFill>
                <a:latin typeface="Bitstream Charter"/>
                <a:ea typeface="Bitstream Charter"/>
                <a:cs typeface="Bitstream Charter"/>
              </a:rPr>
              <a:t>Payments and live fulfillment are not connected. Pilot sourcing, packing and delivery require manual handling.</a:t>
            </a:r>
          </a:p>
        </p:txBody>
      </p:sp>
    </p:spTree>
    <p:extLst>
      <p:ext uri="{BB962C8B-B14F-4D97-AF65-F5344CB8AC3E}">
        <p14:creationId xmlns:p14="http://schemas.microsoft.com/office/powerpoint/2010/main" val="392299300"/>
      </p:ext>
    </p:extLst>
  </p:cSld>
</p:sld>
</file>

<file path=ppt/slides/slide5.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C27866-11D2-4DB3-87E8-AEDF2953DB06}"/>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C0BA3798-0D87-4AD7-B98C-A0B4784D67B0}"/>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CUSTOMER RESEARCH</a:t>
            </a:r>
          </a:p>
        </p:txBody>
      </p:sp>
      <p:sp>
        <p:nvSpPr>
          <p:cNvPr id="3" name="">
            <a:extLst xmlns:a="http://schemas.openxmlformats.org/drawingml/2006/main">
              <a:ext uri="{FF2B5EF4-FFF2-40B4-BE49-F238E27FC236}">
                <a16:creationId xmlns:a16="http://schemas.microsoft.com/office/drawing/2014/main" id="{1163907E-100D-4D3B-A11C-3BD9AC0A21A0}"/>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Early interest supports a small pilot</a:t>
            </a:r>
          </a:p>
        </p:txBody>
      </p:sp>
      <p:sp>
        <p:nvSpPr>
          <p:cNvPr id="4" name="">
            <a:extLst xmlns:a="http://schemas.openxmlformats.org/drawingml/2006/main">
              <a:ext uri="{FF2B5EF4-FFF2-40B4-BE49-F238E27FC236}">
                <a16:creationId xmlns:a16="http://schemas.microsoft.com/office/drawing/2014/main" id="{3D0FB525-30C4-469E-BCEF-C1AF4A81BAC4}"/>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05</a:t>
            </a:r>
          </a:p>
        </p:txBody>
      </p:sp>
      <p:sp>
        <p:nvSpPr>
          <p:cNvPr id="5" name="">
            <a:extLst xmlns:a="http://schemas.openxmlformats.org/drawingml/2006/main">
              <a:ext uri="{FF2B5EF4-FFF2-40B4-BE49-F238E27FC236}">
                <a16:creationId xmlns:a16="http://schemas.microsoft.com/office/drawing/2014/main" id="{5FE66961-18A9-4F78-AB32-1A3C2A406DF8}"/>
              </a:ext>
            </a:extLst>
          </p:cNvPr>
          <p:cNvSpPr>
            <a:spLocks xmlns:a="http://schemas.openxmlformats.org/drawingml/2006/main" noGrp="1"/>
          </p:cNvSpPr>
          <p:nvPr/>
        </p:nvSpPr>
        <p:spPr>
          <a:xfrm xmlns:a="http://schemas.openxmlformats.org/drawingml/2006/main">
            <a:off x="609600" y="26765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A65431"/>
                </a:solidFill>
                <a:latin typeface="Bitstream Charter"/>
                <a:ea typeface="Bitstream Charter"/>
                <a:cs typeface="Bitstream Charter"/>
              </a:defRPr>
            </a:pPr>
            <a:r>
              <a:rPr sz="3900" b="1">
                <a:solidFill>
                  <a:srgbClr val="A65431"/>
                </a:solidFill>
                <a:latin typeface="Bitstream Charter"/>
                <a:ea typeface="Bitstream Charter"/>
                <a:cs typeface="Bitstream Charter"/>
              </a:rPr>
              <a:t>More than 20</a:t>
            </a:r>
          </a:p>
        </p:txBody>
      </p:sp>
      <p:sp>
        <p:nvSpPr>
          <p:cNvPr id="6" name="">
            <a:extLst xmlns:a="http://schemas.openxmlformats.org/drawingml/2006/main">
              <a:ext uri="{FF2B5EF4-FFF2-40B4-BE49-F238E27FC236}">
                <a16:creationId xmlns:a16="http://schemas.microsoft.com/office/drawing/2014/main" id="{F427B4CD-2452-44C1-9B21-0840F3427292}"/>
              </a:ext>
            </a:extLst>
          </p:cNvPr>
          <p:cNvSpPr>
            <a:spLocks xmlns:a="http://schemas.openxmlformats.org/drawingml/2006/main" noGrp="1"/>
          </p:cNvSpPr>
          <p:nvPr/>
        </p:nvSpPr>
        <p:spPr>
          <a:xfrm xmlns:a="http://schemas.openxmlformats.org/drawingml/2006/main">
            <a:off x="609600" y="33242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F35"/>
                </a:solidFill>
                <a:latin typeface="Bitstream Charter"/>
                <a:ea typeface="Bitstream Charter"/>
                <a:cs typeface="Bitstream Charter"/>
              </a:defRPr>
            </a:pPr>
            <a:r>
              <a:rPr sz="2025" b="1">
                <a:solidFill>
                  <a:srgbClr val="173F35"/>
                </a:solidFill>
                <a:latin typeface="Bitstream Charter"/>
                <a:ea typeface="Bitstream Charter"/>
                <a:cs typeface="Bitstream Charter"/>
              </a:rPr>
              <a:t>people interviewed</a:t>
            </a:r>
          </a:p>
        </p:txBody>
      </p:sp>
      <p:sp>
        <p:nvSpPr>
          <p:cNvPr id="7" name="">
            <a:extLst xmlns:a="http://schemas.openxmlformats.org/drawingml/2006/main">
              <a:ext uri="{FF2B5EF4-FFF2-40B4-BE49-F238E27FC236}">
                <a16:creationId xmlns:a16="http://schemas.microsoft.com/office/drawing/2014/main" id="{ED6095D4-97AF-4982-A86C-062B05E41A2A}"/>
              </a:ext>
            </a:extLst>
          </p:cNvPr>
          <p:cNvSpPr>
            <a:spLocks xmlns:a="http://schemas.openxmlformats.org/drawingml/2006/main" noGrp="1"/>
          </p:cNvSpPr>
          <p:nvPr/>
        </p:nvSpPr>
        <p:spPr>
          <a:xfrm xmlns:a="http://schemas.openxmlformats.org/drawingml/2006/main">
            <a:off x="609600" y="40671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2655C"/>
                </a:solidFill>
                <a:latin typeface="Bitstream Charter"/>
                <a:ea typeface="Bitstream Charter"/>
                <a:cs typeface="Bitstream Charter"/>
              </a:defRPr>
            </a:pPr>
            <a:r>
              <a:rPr sz="1875" b="1">
                <a:solidFill>
                  <a:srgbClr val="52655C"/>
                </a:solidFill>
                <a:latin typeface="Bitstream Charter"/>
                <a:ea typeface="Bitstream Charter"/>
                <a:cs typeface="Bitstream Charter"/>
              </a:rPr>
              <a:t>Main difficulty</a:t>
            </a:r>
          </a:p>
        </p:txBody>
      </p:sp>
      <p:sp>
        <p:nvSpPr>
          <p:cNvPr id="8" name="">
            <a:extLst xmlns:a="http://schemas.openxmlformats.org/drawingml/2006/main">
              <a:ext uri="{FF2B5EF4-FFF2-40B4-BE49-F238E27FC236}">
                <a16:creationId xmlns:a16="http://schemas.microsoft.com/office/drawing/2014/main" id="{FF073858-6188-4F20-A3B1-1F925B340DF9}"/>
              </a:ext>
            </a:extLst>
          </p:cNvPr>
          <p:cNvSpPr>
            <a:spLocks xmlns:a="http://schemas.openxmlformats.org/drawingml/2006/main" noGrp="1"/>
          </p:cNvSpPr>
          <p:nvPr/>
        </p:nvSpPr>
        <p:spPr>
          <a:xfrm xmlns:a="http://schemas.openxmlformats.org/drawingml/2006/main">
            <a:off x="609600" y="44767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Buying all the ingredients and finding suitable recipes.</a:t>
            </a:r>
          </a:p>
        </p:txBody>
      </p:sp>
      <p:sp>
        <p:nvSpPr>
          <p:cNvPr id="9" name="">
            <a:extLst xmlns:a="http://schemas.openxmlformats.org/drawingml/2006/main">
              <a:ext uri="{FF2B5EF4-FFF2-40B4-BE49-F238E27FC236}">
                <a16:creationId xmlns:a16="http://schemas.microsoft.com/office/drawing/2014/main" id="{D7EFD385-13F7-4478-AF57-845EB88356A5}"/>
              </a:ext>
            </a:extLst>
          </p:cNvPr>
          <p:cNvSpPr>
            <a:spLocks xmlns:a="http://schemas.openxmlformats.org/drawingml/2006/main" noGrp="1"/>
          </p:cNvSpPr>
          <p:nvPr/>
        </p:nvSpPr>
        <p:spPr>
          <a:xfrm xmlns:a="http://schemas.openxmlformats.org/drawingml/2006/main">
            <a:off x="6334125" y="26765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73F35"/>
                </a:solidFill>
                <a:latin typeface="Bitstream Charter"/>
                <a:ea typeface="Bitstream Charter"/>
                <a:cs typeface="Bitstream Charter"/>
              </a:defRPr>
            </a:pPr>
            <a:r>
              <a:rPr sz="3900" b="1">
                <a:solidFill>
                  <a:srgbClr val="173F35"/>
                </a:solidFill>
                <a:latin typeface="Bitstream Charter"/>
                <a:ea typeface="Bitstream Charter"/>
                <a:cs typeface="Bitstream Charter"/>
              </a:rPr>
              <a:t>More than 10</a:t>
            </a:r>
          </a:p>
        </p:txBody>
      </p:sp>
      <p:sp>
        <p:nvSpPr>
          <p:cNvPr id="10" name="">
            <a:extLst xmlns:a="http://schemas.openxmlformats.org/drawingml/2006/main">
              <a:ext uri="{FF2B5EF4-FFF2-40B4-BE49-F238E27FC236}">
                <a16:creationId xmlns:a16="http://schemas.microsoft.com/office/drawing/2014/main" id="{A93535D8-CF3C-494F-A378-628C6110375F}"/>
              </a:ext>
            </a:extLst>
          </p:cNvPr>
          <p:cNvSpPr>
            <a:spLocks xmlns:a="http://schemas.openxmlformats.org/drawingml/2006/main" noGrp="1"/>
          </p:cNvSpPr>
          <p:nvPr/>
        </p:nvSpPr>
        <p:spPr>
          <a:xfrm xmlns:a="http://schemas.openxmlformats.org/drawingml/2006/main">
            <a:off x="6334125" y="33242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F35"/>
                </a:solidFill>
                <a:latin typeface="Bitstream Charter"/>
                <a:ea typeface="Bitstream Charter"/>
                <a:cs typeface="Bitstream Charter"/>
              </a:defRPr>
            </a:pPr>
            <a:r>
              <a:rPr sz="2025" b="1">
                <a:solidFill>
                  <a:srgbClr val="173F35"/>
                </a:solidFill>
                <a:latin typeface="Bitstream Charter"/>
                <a:ea typeface="Bitstream Charter"/>
                <a:cs typeface="Bitstream Charter"/>
              </a:rPr>
              <a:t>would try a box below BHD 5</a:t>
            </a:r>
          </a:p>
        </p:txBody>
      </p:sp>
      <p:sp>
        <p:nvSpPr>
          <p:cNvPr id="11" name="">
            <a:extLst xmlns:a="http://schemas.openxmlformats.org/drawingml/2006/main">
              <a:ext uri="{FF2B5EF4-FFF2-40B4-BE49-F238E27FC236}">
                <a16:creationId xmlns:a16="http://schemas.microsoft.com/office/drawing/2014/main" id="{0E661045-CB36-45CD-B094-15751EB8C51F}"/>
              </a:ext>
            </a:extLst>
          </p:cNvPr>
          <p:cNvSpPr>
            <a:spLocks xmlns:a="http://schemas.openxmlformats.org/drawingml/2006/main" noGrp="1"/>
          </p:cNvSpPr>
          <p:nvPr/>
        </p:nvSpPr>
        <p:spPr>
          <a:xfrm xmlns:a="http://schemas.openxmlformats.org/drawingml/2006/main">
            <a:off x="6334125" y="40671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2655C"/>
                </a:solidFill>
                <a:latin typeface="Bitstream Charter"/>
                <a:ea typeface="Bitstream Charter"/>
                <a:cs typeface="Bitstream Charter"/>
              </a:defRPr>
            </a:pPr>
            <a:r>
              <a:rPr sz="1875" b="1">
                <a:solidFill>
                  <a:srgbClr val="52655C"/>
                </a:solidFill>
                <a:latin typeface="Bitstream Charter"/>
                <a:ea typeface="Bitstream Charter"/>
                <a:cs typeface="Bitstream Charter"/>
              </a:rPr>
              <a:t>Buying preference</a:t>
            </a:r>
          </a:p>
        </p:txBody>
      </p:sp>
      <p:sp>
        <p:nvSpPr>
          <p:cNvPr id="12" name="">
            <a:extLst xmlns:a="http://schemas.openxmlformats.org/drawingml/2006/main">
              <a:ext uri="{FF2B5EF4-FFF2-40B4-BE49-F238E27FC236}">
                <a16:creationId xmlns:a16="http://schemas.microsoft.com/office/drawing/2014/main" id="{7F2B780E-272D-4A8B-A3D4-3AB7A90D7D5C}"/>
              </a:ext>
            </a:extLst>
          </p:cNvPr>
          <p:cNvSpPr>
            <a:spLocks xmlns:a="http://schemas.openxmlformats.org/drawingml/2006/main" noGrp="1"/>
          </p:cNvSpPr>
          <p:nvPr/>
        </p:nvSpPr>
        <p:spPr>
          <a:xfrm xmlns:a="http://schemas.openxmlformats.org/drawingml/2006/main">
            <a:off x="6334125" y="447675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Most preferred one box or a daily package. Only one person showed interest in a monthly order.</a:t>
            </a:r>
          </a:p>
        </p:txBody>
      </p:sp>
      <p:sp>
        <p:nvSpPr>
          <p:cNvPr id="13" name="">
            <a:extLst xmlns:a="http://schemas.openxmlformats.org/drawingml/2006/main">
              <a:ext uri="{FF2B5EF4-FFF2-40B4-BE49-F238E27FC236}">
                <a16:creationId xmlns:a16="http://schemas.microsoft.com/office/drawing/2014/main" id="{6B61D9E0-0C36-4756-8705-FF1CDB03DABE}"/>
              </a:ext>
            </a:extLst>
          </p:cNvPr>
          <p:cNvSpPr>
            <a:spLocks xmlns:a="http://schemas.openxmlformats.org/drawingml/2006/main" noGrp="1"/>
          </p:cNvSpPr>
          <p:nvPr/>
        </p:nvSpPr>
        <p:spPr>
          <a:xfrm xmlns:a="http://schemas.openxmlformats.org/drawingml/2006/main">
            <a:off x="609600" y="59721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No paid preorders have been collected yet.</a:t>
            </a:r>
          </a:p>
        </p:txBody>
      </p:sp>
    </p:spTree>
    <p:extLst>
      <p:ext uri="{BB962C8B-B14F-4D97-AF65-F5344CB8AC3E}">
        <p14:creationId xmlns:p14="http://schemas.microsoft.com/office/powerpoint/2010/main" val="2141069214"/>
      </p:ext>
    </p:extLst>
  </p:cSld>
</p:sld>
</file>

<file path=ppt/slides/slide6.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B811AB-C6ED-4DF8-B900-DD07323DC6AB}"/>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5EC"/>
                </a:solidFill>
                <a:latin typeface="Bitstream Charter"/>
                <a:ea typeface="Bitstream Charter"/>
                <a:cs typeface="Bitstream Charter"/>
              </a:defRPr>
            </a:pPr>
            <a:r>
              <a:rPr sz="1800" b="1">
                <a:solidFill>
                  <a:srgbClr val="F8F5EC"/>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06B72732-E929-4EF2-9D7E-B3F61FA82C71}"/>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4E0D3"/>
                </a:solidFill>
                <a:latin typeface="Bitstream Charter"/>
                <a:ea typeface="Bitstream Charter"/>
                <a:cs typeface="Bitstream Charter"/>
              </a:defRPr>
            </a:pPr>
            <a:r>
              <a:rPr sz="1425" b="1">
                <a:solidFill>
                  <a:srgbClr val="D4E0D3"/>
                </a:solidFill>
                <a:latin typeface="Bitstream Charter"/>
                <a:ea typeface="Bitstream Charter"/>
                <a:cs typeface="Bitstream Charter"/>
              </a:rPr>
              <a:t>FOUNDER</a:t>
            </a:r>
          </a:p>
        </p:txBody>
      </p:sp>
      <p:sp>
        <p:nvSpPr>
          <p:cNvPr id="3" name="">
            <a:extLst xmlns:a="http://schemas.openxmlformats.org/drawingml/2006/main">
              <a:ext uri="{FF2B5EF4-FFF2-40B4-BE49-F238E27FC236}">
                <a16:creationId xmlns:a16="http://schemas.microsoft.com/office/drawing/2014/main" id="{68CB9D7C-055C-4D1D-9699-B24F4DC3B54D}"/>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8F5EC"/>
                </a:solidFill>
                <a:latin typeface="Bitstream Charter"/>
                <a:ea typeface="Bitstream Charter"/>
                <a:cs typeface="Bitstream Charter"/>
              </a:defRPr>
            </a:pPr>
            <a:r>
              <a:rPr sz="3600" b="1">
                <a:solidFill>
                  <a:srgbClr val="F8F5EC"/>
                </a:solidFill>
                <a:latin typeface="Bitstream Charter"/>
                <a:ea typeface="Bitstream Charter"/>
                <a:cs typeface="Bitstream Charter"/>
              </a:rPr>
              <a:t>Why I’m building NutriVision</a:t>
            </a:r>
          </a:p>
        </p:txBody>
      </p:sp>
      <p:sp>
        <p:nvSpPr>
          <p:cNvPr id="4" name="">
            <a:extLst xmlns:a="http://schemas.openxmlformats.org/drawingml/2006/main">
              <a:ext uri="{FF2B5EF4-FFF2-40B4-BE49-F238E27FC236}">
                <a16:creationId xmlns:a16="http://schemas.microsoft.com/office/drawing/2014/main" id="{188D0CD8-C433-48AD-BF21-56392FD2E0F0}"/>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8F5EC"/>
                </a:solidFill>
                <a:latin typeface="Bitstream Charter"/>
                <a:ea typeface="Bitstream Charter"/>
                <a:cs typeface="Bitstream Charter"/>
              </a:defRPr>
            </a:pPr>
            <a:r>
              <a:rPr sz="1350" b="0">
                <a:solidFill>
                  <a:srgbClr val="F8F5EC"/>
                </a:solidFill>
                <a:latin typeface="Bitstream Charter"/>
                <a:ea typeface="Bitstream Charter"/>
                <a:cs typeface="Bitstream Charter"/>
              </a:rPr>
              <a:t>06</a:t>
            </a:r>
          </a:p>
        </p:txBody>
      </p:sp>
      <p:sp>
        <p:nvSpPr>
          <p:cNvPr id="5" name="">
            <a:extLst xmlns:a="http://schemas.openxmlformats.org/drawingml/2006/main">
              <a:ext uri="{FF2B5EF4-FFF2-40B4-BE49-F238E27FC236}">
                <a16:creationId xmlns:a16="http://schemas.microsoft.com/office/drawing/2014/main" id="{85FF26FA-FB20-49CE-AE29-33DE0210FDAF}"/>
              </a:ext>
            </a:extLst>
          </p:cNvPr>
          <p:cNvSpPr>
            <a:spLocks xmlns:a="http://schemas.openxmlformats.org/drawingml/2006/main" noGrp="1"/>
          </p:cNvSpPr>
          <p:nvPr/>
        </p:nvSpPr>
        <p:spPr>
          <a:xfrm xmlns:a="http://schemas.openxmlformats.org/drawingml/2006/main">
            <a:off x="609600" y="26384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8F5EC"/>
                </a:solidFill>
                <a:latin typeface="Bitstream Charter"/>
                <a:ea typeface="Bitstream Charter"/>
                <a:cs typeface="Bitstream Charter"/>
              </a:defRPr>
            </a:pPr>
            <a:r>
              <a:rPr sz="2625" b="1">
                <a:solidFill>
                  <a:srgbClr val="F8F5EC"/>
                </a:solidFill>
                <a:latin typeface="Bitstream Charter"/>
                <a:ea typeface="Bitstream Charter"/>
                <a:cs typeface="Bitstream Charter"/>
              </a:rPr>
              <a:t>Reducing the time and effort needed</a:t>
            </a:r>
          </a:p>
          <a:p xmlns:a="http://schemas.openxmlformats.org/drawingml/2006/main">
            <a:pPr>
              <a:defRPr sz="2625" b="1">
                <a:solidFill>
                  <a:srgbClr val="F8F5EC"/>
                </a:solidFill>
                <a:latin typeface="Bitstream Charter"/>
                <a:ea typeface="Bitstream Charter"/>
                <a:cs typeface="Bitstream Charter"/>
              </a:defRPr>
            </a:pPr>
            <a:r>
              <a:rPr sz="2625" b="1">
                <a:solidFill>
                  <a:srgbClr val="F8F5EC"/>
                </a:solidFill>
                <a:latin typeface="Bitstream Charter"/>
                <a:ea typeface="Bitstream Charter"/>
                <a:cs typeface="Bitstream Charter"/>
              </a:rPr>
              <a:t>to prepare meals at home.</a:t>
            </a:r>
          </a:p>
        </p:txBody>
      </p:sp>
      <p:sp>
        <p:nvSpPr>
          <p:cNvPr id="6" name="">
            <a:extLst xmlns:a="http://schemas.openxmlformats.org/drawingml/2006/main">
              <a:ext uri="{FF2B5EF4-FFF2-40B4-BE49-F238E27FC236}">
                <a16:creationId xmlns:a16="http://schemas.microsoft.com/office/drawing/2014/main" id="{A77C39BD-D130-49FB-BEA0-B7BD60C1D534}"/>
              </a:ext>
            </a:extLst>
          </p:cNvPr>
          <p:cNvSpPr>
            <a:spLocks xmlns:a="http://schemas.openxmlformats.org/drawingml/2006/main" noGrp="1"/>
          </p:cNvSpPr>
          <p:nvPr/>
        </p:nvSpPr>
        <p:spPr>
          <a:xfrm xmlns:a="http://schemas.openxmlformats.org/drawingml/2006/main">
            <a:off x="609600" y="39528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E0D3"/>
                </a:solidFill>
                <a:latin typeface="Bitstream Charter"/>
                <a:ea typeface="Bitstream Charter"/>
                <a:cs typeface="Bitstream Charter"/>
              </a:defRPr>
            </a:pPr>
            <a:r>
              <a:rPr sz="2025" b="1">
                <a:solidFill>
                  <a:srgbClr val="D4E0D3"/>
                </a:solidFill>
                <a:latin typeface="Bitstream Charter"/>
                <a:ea typeface="Bitstream Charter"/>
                <a:cs typeface="Bitstream Charter"/>
              </a:rPr>
              <a:t>The problem I observed</a:t>
            </a:r>
          </a:p>
        </p:txBody>
      </p:sp>
      <p:sp>
        <p:nvSpPr>
          <p:cNvPr id="7" name="">
            <a:extLst xmlns:a="http://schemas.openxmlformats.org/drawingml/2006/main">
              <a:ext uri="{FF2B5EF4-FFF2-40B4-BE49-F238E27FC236}">
                <a16:creationId xmlns:a16="http://schemas.microsoft.com/office/drawing/2014/main" id="{76F3711B-9218-4CC9-BBEE-84BDB60DFB5B}"/>
              </a:ext>
            </a:extLst>
          </p:cNvPr>
          <p:cNvSpPr>
            <a:spLocks xmlns:a="http://schemas.openxmlformats.org/drawingml/2006/main" noGrp="1"/>
          </p:cNvSpPr>
          <p:nvPr/>
        </p:nvSpPr>
        <p:spPr>
          <a:xfrm xmlns:a="http://schemas.openxmlformats.org/drawingml/2006/main">
            <a:off x="609600" y="4467225"/>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8F5EC"/>
                </a:solidFill>
                <a:latin typeface="Bitstream Charter"/>
                <a:ea typeface="Bitstream Charter"/>
                <a:cs typeface="Bitstream Charter"/>
              </a:defRPr>
            </a:pPr>
            <a:r>
              <a:rPr sz="1950" b="0">
                <a:solidFill>
                  <a:srgbClr val="F8F5EC"/>
                </a:solidFill>
                <a:latin typeface="Bitstream Charter"/>
                <a:ea typeface="Bitstream Charter"/>
                <a:cs typeface="Bitstream Charter"/>
              </a:rPr>
              <a:t>People may forget an ingredient or buy more than they need.</a:t>
            </a:r>
          </a:p>
        </p:txBody>
      </p:sp>
      <p:sp>
        <p:nvSpPr>
          <p:cNvPr id="8" name="">
            <a:extLst xmlns:a="http://schemas.openxmlformats.org/drawingml/2006/main">
              <a:ext uri="{FF2B5EF4-FFF2-40B4-BE49-F238E27FC236}">
                <a16:creationId xmlns:a16="http://schemas.microsoft.com/office/drawing/2014/main" id="{0E621B10-2597-46D7-B3BA-5E7CFF673B5D}"/>
              </a:ext>
            </a:extLst>
          </p:cNvPr>
          <p:cNvSpPr>
            <a:spLocks xmlns:a="http://schemas.openxmlformats.org/drawingml/2006/main" noGrp="1"/>
          </p:cNvSpPr>
          <p:nvPr/>
        </p:nvSpPr>
        <p:spPr>
          <a:xfrm xmlns:a="http://schemas.openxmlformats.org/drawingml/2006/main">
            <a:off x="6334125" y="39528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E0D3"/>
                </a:solidFill>
                <a:latin typeface="Bitstream Charter"/>
                <a:ea typeface="Bitstream Charter"/>
                <a:cs typeface="Bitstream Charter"/>
              </a:defRPr>
            </a:pPr>
            <a:r>
              <a:rPr sz="2025" b="1">
                <a:solidFill>
                  <a:srgbClr val="D4E0D3"/>
                </a:solidFill>
                <a:latin typeface="Bitstream Charter"/>
                <a:ea typeface="Bitstream Charter"/>
                <a:cs typeface="Bitstream Charter"/>
              </a:rPr>
              <a:t>My strength</a:t>
            </a:r>
          </a:p>
        </p:txBody>
      </p:sp>
      <p:sp>
        <p:nvSpPr>
          <p:cNvPr id="9" name="">
            <a:extLst xmlns:a="http://schemas.openxmlformats.org/drawingml/2006/main">
              <a:ext uri="{FF2B5EF4-FFF2-40B4-BE49-F238E27FC236}">
                <a16:creationId xmlns:a16="http://schemas.microsoft.com/office/drawing/2014/main" id="{0335D150-949A-47A4-B78C-15339F15E5F7}"/>
              </a:ext>
            </a:extLst>
          </p:cNvPr>
          <p:cNvSpPr>
            <a:spLocks xmlns:a="http://schemas.openxmlformats.org/drawingml/2006/main" noGrp="1"/>
          </p:cNvSpPr>
          <p:nvPr/>
        </p:nvSpPr>
        <p:spPr>
          <a:xfrm xmlns:a="http://schemas.openxmlformats.org/drawingml/2006/main">
            <a:off x="6334125" y="4467225"/>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8F5EC"/>
                </a:solidFill>
                <a:latin typeface="Bitstream Charter"/>
                <a:ea typeface="Bitstream Charter"/>
                <a:cs typeface="Bitstream Charter"/>
              </a:defRPr>
            </a:pPr>
            <a:r>
              <a:rPr sz="1950" b="0">
                <a:solidFill>
                  <a:srgbClr val="F8F5EC"/>
                </a:solidFill>
                <a:latin typeface="Bitstream Charter"/>
                <a:ea typeface="Bitstream Charter"/>
                <a:cs typeface="Bitstream Charter"/>
              </a:rPr>
              <a:t>Application development. I built the prototype to turn the idea into a working product.</a:t>
            </a:r>
          </a:p>
        </p:txBody>
      </p:sp>
      <p:sp>
        <p:nvSpPr>
          <p:cNvPr id="10" name="">
            <a:extLst xmlns:a="http://schemas.openxmlformats.org/drawingml/2006/main">
              <a:ext uri="{FF2B5EF4-FFF2-40B4-BE49-F238E27FC236}">
                <a16:creationId xmlns:a16="http://schemas.microsoft.com/office/drawing/2014/main" id="{EEF64E10-F1FE-40E7-8022-26FABD1929D2}"/>
              </a:ext>
            </a:extLst>
          </p:cNvPr>
          <p:cNvSpPr>
            <a:spLocks xmlns:a="http://schemas.openxmlformats.org/drawingml/2006/main" noGrp="1"/>
          </p:cNvSpPr>
          <p:nvPr/>
        </p:nvSpPr>
        <p:spPr>
          <a:xfrm xmlns:a="http://schemas.openxmlformats.org/drawingml/2006/main">
            <a:off x="609600" y="5629275"/>
            <a:ext cx="1052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4E0D3"/>
                </a:solidFill>
                <a:latin typeface="Bitstream Charter"/>
                <a:ea typeface="Bitstream Charter"/>
                <a:cs typeface="Bitstream Charter"/>
              </a:defRPr>
            </a:pPr>
            <a:r>
              <a:rPr sz="1950" b="0">
                <a:solidFill>
                  <a:srgbClr val="D4E0D3"/>
                </a:solidFill>
                <a:latin typeface="Bitstream Charter"/>
                <a:ea typeface="Bitstream Charter"/>
                <a:cs typeface="Bitstream Charter"/>
              </a:rPr>
              <a:t>Next: test real orders and build relationships with food suppliers, nutrition specialists and delivery partners.</a:t>
            </a:r>
          </a:p>
        </p:txBody>
      </p:sp>
    </p:spTree>
    <p:extLst>
      <p:ext uri="{BB962C8B-B14F-4D97-AF65-F5344CB8AC3E}">
        <p14:creationId xmlns:p14="http://schemas.microsoft.com/office/powerpoint/2010/main" val="367536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2026-09-22T10:19:51.2840000Z</dcterms:created>
  <dcterms:modified xsi:type="dcterms:W3CDTF">2026-09-22T10:19:51.2840000Z</dcterms:modified>
</coreProperties>
</file>